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274" r:id="rId4"/>
    <p:sldId id="281" r:id="rId5"/>
    <p:sldId id="286" r:id="rId6"/>
    <p:sldId id="298" r:id="rId7"/>
    <p:sldId id="295" r:id="rId8"/>
    <p:sldId id="300" r:id="rId9"/>
    <p:sldId id="301" r:id="rId10"/>
    <p:sldId id="302" r:id="rId11"/>
    <p:sldId id="303" r:id="rId12"/>
    <p:sldId id="287" r:id="rId13"/>
    <p:sldId id="280" r:id="rId14"/>
    <p:sldId id="289" r:id="rId15"/>
    <p:sldId id="288" r:id="rId16"/>
    <p:sldId id="299" r:id="rId17"/>
    <p:sldId id="294" r:id="rId18"/>
    <p:sldId id="290" r:id="rId19"/>
    <p:sldId id="291" r:id="rId20"/>
    <p:sldId id="292" r:id="rId21"/>
    <p:sldId id="293" r:id="rId22"/>
    <p:sldId id="256" r:id="rId23"/>
    <p:sldId id="257" r:id="rId24"/>
    <p:sldId id="260" r:id="rId25"/>
    <p:sldId id="259" r:id="rId26"/>
    <p:sldId id="265" r:id="rId27"/>
    <p:sldId id="266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14T04:09:52.543" v="811" actId="478"/>
      <pc:docMkLst>
        <pc:docMk/>
      </pc:docMkLst>
      <pc:sldChg chg="modSp mod">
        <pc:chgData name="yoon xihyeon" userId="b03689a23d6da60b" providerId="LiveId" clId="{5D914AD7-9230-47CE-8F52-5A96260F97A5}" dt="2022-11-14T03:46:03.862" v="102" actId="34135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modSp mod">
        <pc:chgData name="yoon xihyeon" userId="b03689a23d6da60b" providerId="LiveId" clId="{5D914AD7-9230-47CE-8F52-5A96260F97A5}" dt="2022-11-14T03:46:42.780" v="162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54.069" v="799" actId="478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mod ord">
        <pc:chgData name="yoon xihyeon" userId="b03689a23d6da60b" providerId="LiveId" clId="{5D914AD7-9230-47CE-8F52-5A96260F97A5}" dt="2022-11-14T04:09:00.461" v="800" actId="478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mod">
        <pc:chgData name="yoon xihyeon" userId="b03689a23d6da60b" providerId="LiveId" clId="{5D914AD7-9230-47CE-8F52-5A96260F97A5}" dt="2022-11-14T04:04:39.230" v="750" actId="2057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mod">
        <pc:chgData name="yoon xihyeon" userId="b03689a23d6da60b" providerId="LiveId" clId="{5D914AD7-9230-47CE-8F52-5A96260F97A5}" dt="2022-11-14T04:03:57.074" v="730" actId="1035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mod">
        <pc:chgData name="yoon xihyeon" userId="b03689a23d6da60b" providerId="LiveId" clId="{5D914AD7-9230-47CE-8F52-5A96260F97A5}" dt="2022-11-14T04:04:29.780" v="736" actId="2057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">
        <pc:chgData name="yoon xihyeon" userId="b03689a23d6da60b" providerId="LiveId" clId="{5D914AD7-9230-47CE-8F52-5A96260F97A5}" dt="2022-11-14T04:05:32.134" v="771" actId="478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D25-4A48-A956-B69DE8B93D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D25-4A48-A956-B69DE8B93D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D25-4A48-A956-B69DE8B93D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0"/>
        <c:overlap val="100"/>
        <c:serLines>
          <c:spPr>
            <a:ln w="9525" cap="flat" cmpd="sng" algn="ctr">
              <a:solidFill>
                <a:schemeClr val="tx1">
                  <a:lumMod val="35000"/>
                  <a:lumOff val="65000"/>
                </a:schemeClr>
              </a:solidFill>
              <a:round/>
            </a:ln>
            <a:effectLst/>
          </c:spPr>
        </c:serLines>
        <c:axId val="714869480"/>
        <c:axId val="714874072"/>
      </c:barChart>
      <c:catAx>
        <c:axId val="714869480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14874072"/>
        <c:crosses val="autoZero"/>
        <c:auto val="1"/>
        <c:lblAlgn val="ctr"/>
        <c:lblOffset val="100"/>
        <c:noMultiLvlLbl val="0"/>
      </c:catAx>
      <c:valAx>
        <c:axId val="714874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148694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Sheet1!$B$2:$B$5</cx:f>
        <cx:lvl ptCount="4" formatCode="General">
          <cx:pt idx="0">4.2999999999999998</cx:pt>
          <cx:pt idx="1">2.5</cx:pt>
          <cx:pt idx="2">3.5</cx:pt>
          <cx:pt idx="3">4.5</cx:pt>
        </cx:lvl>
      </cx:numDim>
    </cx:data>
    <cx:data id="1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Sheet1!$C$2:$C$5</cx:f>
        <cx:lvl ptCount="4" formatCode="General">
          <cx:pt idx="0">2.3999999999999999</cx:pt>
          <cx:pt idx="1">4.4000000000000004</cx:pt>
          <cx:pt idx="2">1.8</cx:pt>
          <cx:pt idx="3">2.7999999999999998</cx:pt>
        </cx:lvl>
      </cx:numDim>
    </cx:data>
    <cx:data id="2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Sheet1!$D$2:$D$5</cx:f>
        <cx:lvl ptCount="4" formatCode="General">
          <cx:pt idx="0">2</cx:pt>
          <cx:pt idx="1">2</cx:pt>
          <cx:pt idx="2">3</cx:pt>
          <cx:pt idx="3">5</cx:pt>
        </cx:lvl>
      </cx:numDim>
    </cx:data>
  </cx:chartData>
  <cx:chart>
    <cx:plotArea>
      <cx:plotAreaRegion>
        <cx:series layoutId="sunburst" uniqueId="{8943530E-494E-4D8E-A1EC-226820695DBE}" formatIdx="0">
          <cx:tx>
            <cx:txData>
              <cx:f>Sheet1!$B$1</cx:f>
              <cx:v>계열 1</cx:v>
            </cx:txData>
          </cx:tx>
          <cx:dataId val="0"/>
        </cx:series>
        <cx:series layoutId="sunburst" hidden="1" uniqueId="{43DB5B30-1B8D-4017-BA13-787277C8E549}" formatIdx="1">
          <cx:tx>
            <cx:txData>
              <cx:f>Sheet1!$C$1</cx:f>
              <cx:v>계열 2</cx:v>
            </cx:txData>
          </cx:tx>
          <cx:dataId val="1"/>
        </cx:series>
        <cx:series layoutId="sunburst" hidden="1" uniqueId="{400F8934-E055-4E8F-B6DC-A89A9DCA6659}" formatIdx="2">
          <cx:tx>
            <cx:txData>
              <cx:f>Sheet1!$D$1</cx:f>
              <cx:v>계열 3</cx:v>
            </cx:txData>
          </cx:tx>
          <cx:dataId val="2"/>
        </cx:series>
      </cx:plotAreaRegion>
    </cx:plotArea>
    <cx:legend pos="t" align="ctr" overlay="0">
      <cx:txPr>
        <a:bodyPr spcFirstLastPara="1" vertOverflow="ellipsis" horzOverflow="overflow" wrap="square" lIns="0" tIns="0" rIns="0" bIns="0" anchor="ctr" anchorCtr="1"/>
        <a:lstStyle/>
        <a:p>
          <a:pPr algn="ctr" rtl="0">
            <a:defRPr spc="-150">
              <a:latin typeface="+mj-ea"/>
              <a:ea typeface="+mj-ea"/>
              <a:cs typeface="나눔스퀘어 Bold" panose="020B0600000101010101" pitchFamily="50" charset="-127"/>
            </a:defRPr>
          </a:pPr>
          <a:endParaRPr lang="ko-KR" altLang="en-US" sz="1197" b="0" i="0" u="none" strike="noStrike" kern="1200" spc="-150" baseline="0">
            <a:solidFill>
              <a:prstClr val="black">
                <a:lumMod val="65000"/>
                <a:lumOff val="35000"/>
              </a:prstClr>
            </a:solidFill>
            <a:latin typeface="+mj-ea"/>
            <a:ea typeface="+mj-ea"/>
          </a:endParaRPr>
        </a:p>
      </cx:txPr>
    </cx:legend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난 배가 고프다</a:t>
            </a:r>
            <a:endParaRPr lang="ko-KR" altLang="en-US" sz="5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201704086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endParaRPr lang="en-US" altLang="ko-KR" sz="24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202004088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endParaRPr lang="ko-KR" altLang="en-US" sz="2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 </a:t>
            </a:r>
            <a:r>
              <a:rPr lang="en-US" altLang="ko-KR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 </a:t>
            </a:r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분석 어플</a:t>
            </a:r>
            <a:endParaRPr lang="ko-KR" altLang="en-US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4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/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 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배경 및 필요성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목차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9.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기대효과 및 활용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928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/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“</a:t>
            </a:r>
            <a:r>
              <a:rPr lang="ko-KR" altLang="en-US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나 배가 고프다</a:t>
            </a:r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”</a:t>
            </a:r>
            <a:r>
              <a:rPr lang="ko-KR" altLang="en-US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 어플은</a:t>
            </a:r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??!</a:t>
            </a:r>
            <a:endParaRPr lang="ko-KR" altLang="en-US" sz="32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/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/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/>
            </p:cNvSpPr>
            <p:nvPr/>
          </p:nvSpPr>
          <p:spPr>
            <a:xfrm>
              <a:off x="3155293" y="3412714"/>
              <a:ext cx="588141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다이어트와 건강에 관심이 많은 사람들을 위한</a:t>
              </a:r>
              <a:endParaRPr lang="en-US" altLang="ko-KR" sz="2000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pPr algn="ctr"/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음식 성분을 </a:t>
              </a:r>
              <a:r>
                <a:rPr lang="en-US" altLang="ko-KR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분석해 건강을 관리해주는 어플 입니다</a:t>
              </a:r>
              <a:r>
                <a:rPr lang="en-US" altLang="ko-KR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  <a:endParaRPr lang="ko-KR" altLang="en-US" sz="2000" dirty="0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/>
          <p:nvPr/>
        </p:nvSpPr>
        <p:spPr>
          <a:xfrm>
            <a:off x="274320" y="294640"/>
            <a:ext cx="10374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605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1723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배경 및 필요성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/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/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/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/>
          <p:nvPr/>
        </p:nvSpPr>
        <p:spPr>
          <a:xfrm>
            <a:off x="353943" y="1009464"/>
            <a:ext cx="1156001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요새 다이어트와 건강에 관한 열풍</a:t>
            </a:r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!! </a:t>
            </a:r>
            <a:r>
              <a:rPr lang="ko-KR" altLang="en-US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관련 기사 작성</a:t>
            </a:r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링크 필수</a:t>
            </a:r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  <a:p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개인마다 필요 열량에 따른 영양 성분의 기준치가 다르고</a:t>
            </a:r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대부분 자신의 기준치를 잘 모른다</a:t>
            </a:r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영양 성분표를 보면 직관적으로 알아보기 싶지 않다</a:t>
            </a:r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. </a:t>
            </a:r>
            <a:r>
              <a:rPr lang="ko-KR" altLang="en-US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자신이 관심 있는 영양소만 대충 보고 넘어가는 경우가 많다</a:t>
            </a:r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성분표도 전체 성분만 표시되어</a:t>
            </a:r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,</a:t>
            </a:r>
            <a:r>
              <a:rPr lang="ko-KR" altLang="en-US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 내가 먹고 싶은 만큼만 먹었을 때는 어느 정도로 영양을 섭취했는지 알 수가 없다</a:t>
            </a:r>
            <a:r>
              <a:rPr lang="en-US" altLang="ko-KR" sz="20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4208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EB6863-04FA-4DDD-BF13-11791DEF6D32}"/>
              </a:ext>
            </a:extLst>
          </p:cNvPr>
          <p:cNvSpPr/>
          <p:nvPr/>
        </p:nvSpPr>
        <p:spPr>
          <a:xfrm>
            <a:off x="481567" y="1322861"/>
            <a:ext cx="5413594" cy="491132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3" name="차트 12">
                <a:extLst>
                  <a:ext uri="{FF2B5EF4-FFF2-40B4-BE49-F238E27FC236}">
                    <a16:creationId xmlns:a16="http://schemas.microsoft.com/office/drawing/2014/main" id="{58A72C35-FAB5-4FB1-8035-B6D6940148B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533127818"/>
                  </p:ext>
                </p:extLst>
              </p:nvPr>
            </p:nvGraphicFramePr>
            <p:xfrm>
              <a:off x="715696" y="2397939"/>
              <a:ext cx="4856673" cy="355519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13" name="차트 12">
                <a:extLst>
                  <a:ext uri="{FF2B5EF4-FFF2-40B4-BE49-F238E27FC236}">
                    <a16:creationId xmlns:a16="http://schemas.microsoft.com/office/drawing/2014/main" id="{58A72C35-FAB5-4FB1-8035-B6D6940148B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5696" y="2397939"/>
                <a:ext cx="4856673" cy="355519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직사각형 13">
            <a:extLst>
              <a:ext uri="{FF2B5EF4-FFF2-40B4-BE49-F238E27FC236}">
                <a16:creationId xmlns:a16="http://schemas.microsoft.com/office/drawing/2014/main" id="{F2E04AF7-795C-49B1-A037-A828DA800640}"/>
              </a:ext>
            </a:extLst>
          </p:cNvPr>
          <p:cNvSpPr/>
          <p:nvPr/>
        </p:nvSpPr>
        <p:spPr>
          <a:xfrm>
            <a:off x="6314157" y="1322861"/>
            <a:ext cx="5396276" cy="491132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차트 15">
            <a:extLst>
              <a:ext uri="{FF2B5EF4-FFF2-40B4-BE49-F238E27FC236}">
                <a16:creationId xmlns:a16="http://schemas.microsoft.com/office/drawing/2014/main" id="{C905B5A1-4FBC-4D45-AD95-79B966BFB5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4885911"/>
              </p:ext>
            </p:extLst>
          </p:nvPr>
        </p:nvGraphicFramePr>
        <p:xfrm>
          <a:off x="6560802" y="1622639"/>
          <a:ext cx="4922021" cy="43304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7FDA3D-4D44-452E-8B47-47684735F35D}"/>
              </a:ext>
            </a:extLst>
          </p:cNvPr>
          <p:cNvSpPr/>
          <p:nvPr/>
        </p:nvSpPr>
        <p:spPr>
          <a:xfrm>
            <a:off x="709177" y="1535340"/>
            <a:ext cx="4980423" cy="6844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300">
              <a:latin typeface="+mj-ea"/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3133F7-C37B-4CBE-8AB2-86EC1A81B046}"/>
              </a:ext>
            </a:extLst>
          </p:cNvPr>
          <p:cNvSpPr txBox="1"/>
          <p:nvPr/>
        </p:nvSpPr>
        <p:spPr>
          <a:xfrm>
            <a:off x="1404615" y="1615975"/>
            <a:ext cx="34788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XXXX</a:t>
            </a:r>
            <a:r>
              <a:rPr lang="ko-KR" altLang="en-US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년도 제</a:t>
            </a:r>
            <a:r>
              <a:rPr lang="en-US" altLang="ko-KR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3</a:t>
            </a:r>
            <a:r>
              <a:rPr lang="ko-KR" altLang="en-US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분기 실적</a:t>
            </a:r>
          </a:p>
        </p:txBody>
      </p:sp>
    </p:spTree>
    <p:extLst>
      <p:ext uri="{BB962C8B-B14F-4D97-AF65-F5344CB8AC3E}">
        <p14:creationId xmlns:p14="http://schemas.microsoft.com/office/powerpoint/2010/main" val="352435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160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624405" y="2331038"/>
            <a:ext cx="5446528" cy="71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7780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624405" y="2331038"/>
            <a:ext cx="5446528" cy="71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387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5BD7113-48EC-100F-3B37-3E99FB5E5D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131" y="2357437"/>
            <a:ext cx="2143125" cy="21431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C1E4B4-6F1F-F0DD-965B-D63595E8EC6A}"/>
              </a:ext>
            </a:extLst>
          </p:cNvPr>
          <p:cNvSpPr txBox="1"/>
          <p:nvPr/>
        </p:nvSpPr>
        <p:spPr>
          <a:xfrm>
            <a:off x="4520242" y="2357437"/>
            <a:ext cx="5348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10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억 회 이상의 다운로드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5F0271-34FB-6781-B959-6618F0604317}"/>
              </a:ext>
            </a:extLst>
          </p:cNvPr>
          <p:cNvSpPr txBox="1"/>
          <p:nvPr/>
        </p:nvSpPr>
        <p:spPr>
          <a:xfrm>
            <a:off x="4520241" y="3881803"/>
            <a:ext cx="5348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 확인 가능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2CA297-3C05-3D5B-619C-9FCC9DBF33C1}"/>
              </a:ext>
            </a:extLst>
          </p:cNvPr>
          <p:cNvSpPr txBox="1"/>
          <p:nvPr/>
        </p:nvSpPr>
        <p:spPr>
          <a:xfrm>
            <a:off x="4520242" y="3119620"/>
            <a:ext cx="59416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건강관리 및 헬스 서비스를 지원하는 </a:t>
            </a:r>
            <a:r>
              <a:rPr lang="ko-KR" altLang="en-US" sz="200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라이프로깅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플랫폼</a:t>
            </a:r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14782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1116</Words>
  <Application>Microsoft Office PowerPoint</Application>
  <PresentationFormat>와이드스크린</PresentationFormat>
  <Paragraphs>149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20</cp:revision>
  <dcterms:created xsi:type="dcterms:W3CDTF">2020-11-18T01:48:02Z</dcterms:created>
  <dcterms:modified xsi:type="dcterms:W3CDTF">2022-11-20T13:15:46Z</dcterms:modified>
</cp:coreProperties>
</file>