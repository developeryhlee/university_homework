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30" r:id="rId2"/>
    <p:sldId id="331" r:id="rId3"/>
    <p:sldId id="332" r:id="rId4"/>
    <p:sldId id="333" r:id="rId5"/>
    <p:sldId id="334" r:id="rId6"/>
    <p:sldId id="335" r:id="rId7"/>
    <p:sldId id="336" r:id="rId8"/>
    <p:sldId id="337" r:id="rId9"/>
    <p:sldId id="338" r:id="rId10"/>
    <p:sldId id="339" r:id="rId11"/>
    <p:sldId id="340" r:id="rId12"/>
    <p:sldId id="341" r:id="rId13"/>
    <p:sldId id="342" r:id="rId14"/>
    <p:sldId id="343" r:id="rId15"/>
    <p:sldId id="344" r:id="rId16"/>
    <p:sldId id="345" r:id="rId17"/>
    <p:sldId id="346" r:id="rId18"/>
    <p:sldId id="347" r:id="rId19"/>
    <p:sldId id="301" r:id="rId20"/>
    <p:sldId id="302" r:id="rId21"/>
    <p:sldId id="303" r:id="rId22"/>
    <p:sldId id="329" r:id="rId23"/>
    <p:sldId id="287" r:id="rId24"/>
    <p:sldId id="315" r:id="rId25"/>
    <p:sldId id="289" r:id="rId26"/>
    <p:sldId id="288" r:id="rId27"/>
    <p:sldId id="299" r:id="rId28"/>
    <p:sldId id="294" r:id="rId29"/>
    <p:sldId id="290" r:id="rId30"/>
    <p:sldId id="291" r:id="rId31"/>
    <p:sldId id="292" r:id="rId32"/>
    <p:sldId id="293" r:id="rId33"/>
    <p:sldId id="256" r:id="rId34"/>
    <p:sldId id="257" r:id="rId35"/>
    <p:sldId id="260" r:id="rId36"/>
    <p:sldId id="259" r:id="rId37"/>
    <p:sldId id="265" r:id="rId38"/>
    <p:sldId id="266" r:id="rId3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20T14:57:03.037" v="834"/>
      <pc:docMkLst>
        <pc:docMk/>
      </pc:docMkLst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39286300" sldId="271"/>
        </pc:sldMkLst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add del mod">
        <pc:chgData name="yoon xihyeon" userId="b03689a23d6da60b" providerId="LiveId" clId="{5D914AD7-9230-47CE-8F52-5A96260F97A5}" dt="2022-11-20T14:56:50.183" v="826" actId="47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del mod ord">
        <pc:chgData name="yoon xihyeon" userId="b03689a23d6da60b" providerId="LiveId" clId="{5D914AD7-9230-47CE-8F52-5A96260F97A5}" dt="2022-11-20T13:21:23.808" v="814" actId="47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18.933" v="803" actId="478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add del mod setBg">
        <pc:chgData name="yoon xihyeon" userId="b03689a23d6da60b" providerId="LiveId" clId="{5D914AD7-9230-47CE-8F52-5A96260F97A5}" dt="2022-11-20T14:56:50.183" v="826" actId="47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del mod setBg">
        <pc:chgData name="yoon xihyeon" userId="b03689a23d6da60b" providerId="LiveId" clId="{5D914AD7-9230-47CE-8F52-5A96260F97A5}" dt="2022-11-20T14:56:50.183" v="826" actId="4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 ord">
        <pc:chgData name="yoon xihyeon" userId="b03689a23d6da60b" providerId="LiveId" clId="{5D914AD7-9230-47CE-8F52-5A96260F97A5}" dt="2022-11-20T14:57:03.037" v="834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  <pc:sldChg chg="add del">
        <pc:chgData name="yoon xihyeon" userId="b03689a23d6da60b" providerId="LiveId" clId="{5D914AD7-9230-47CE-8F52-5A96260F97A5}" dt="2022-11-20T14:56:50.183" v="826" actId="47"/>
        <pc:sldMkLst>
          <pc:docMk/>
          <pc:sldMk cId="2684446039" sldId="30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2733559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024512772" sldId="305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2733559" sldId="306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37208154" sldId="306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536793014" sldId="307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120002575" sldId="307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383687491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469024169" sldId="308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091178883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37208154" sldId="309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120002575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429700823" sldId="310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56164579" sldId="311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469024169" sldId="311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367088733" sldId="312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2091178883" sldId="312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2650336298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3429700823" sldId="313"/>
        </pc:sldMkLst>
      </pc:sldChg>
      <pc:sldChg chg="add del setBg">
        <pc:chgData name="yoon xihyeon" userId="b03689a23d6da60b" providerId="LiveId" clId="{5D914AD7-9230-47CE-8F52-5A96260F97A5}" dt="2022-11-20T13:22:47.858" v="821" actId="47"/>
        <pc:sldMkLst>
          <pc:docMk/>
          <pc:sldMk cId="156164579" sldId="314"/>
        </pc:sldMkLst>
      </pc:sldChg>
      <pc:sldChg chg="add del setBg">
        <pc:chgData name="yoon xihyeon" userId="b03689a23d6da60b" providerId="LiveId" clId="{5D914AD7-9230-47CE-8F52-5A96260F97A5}" dt="2022-11-20T14:56:50.183" v="826" actId="47"/>
        <pc:sldMkLst>
          <pc:docMk/>
          <pc:sldMk cId="1906557788" sldId="31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618241602" sldId="31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632028359" sldId="31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902230529" sldId="317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1929721" sldId="318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909889940" sldId="319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635240090" sldId="320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3713980244" sldId="321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455221694" sldId="322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221374303" sldId="323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2511315108" sldId="324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599607885" sldId="325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4214377447" sldId="326"/>
        </pc:sldMkLst>
      </pc:sldChg>
      <pc:sldChg chg="add del">
        <pc:chgData name="yoon xihyeon" userId="b03689a23d6da60b" providerId="LiveId" clId="{5D914AD7-9230-47CE-8F52-5A96260F97A5}" dt="2022-11-20T14:56:33.119" v="823" actId="2696"/>
        <pc:sldMkLst>
          <pc:docMk/>
          <pc:sldMk cId="1975735074" sldId="32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580032353" sldId="33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975752944" sldId="33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26280623" sldId="33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282268662" sldId="33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418081916" sldId="33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949534" sldId="335"/>
        </pc:sldMkLst>
      </pc:sldChg>
      <pc:sldChg chg="add ord">
        <pc:chgData name="yoon xihyeon" userId="b03689a23d6da60b" providerId="LiveId" clId="{5D914AD7-9230-47CE-8F52-5A96260F97A5}" dt="2022-11-20T14:56:56.370" v="831" actId="20578"/>
        <pc:sldMkLst>
          <pc:docMk/>
          <pc:sldMk cId="1596801422" sldId="33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033584445" sldId="337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262711122" sldId="338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6362761" sldId="339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80619964" sldId="340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2431861923" sldId="341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47331528" sldId="342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120979031" sldId="343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467975612" sldId="344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684979857" sldId="345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132453998" sldId="346"/>
        </pc:sldMkLst>
      </pc:sldChg>
      <pc:sldChg chg="add">
        <pc:chgData name="yoon xihyeon" userId="b03689a23d6da60b" providerId="LiveId" clId="{5D914AD7-9230-47CE-8F52-5A96260F97A5}" dt="2022-11-20T14:56:42.248" v="825"/>
        <pc:sldMkLst>
          <pc:docMk/>
          <pc:sldMk cId="3391031825" sldId="347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jp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4.jp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e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5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난 배가 고프다</a:t>
            </a:r>
            <a:endParaRPr kumimoji="0" lang="ko-KR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201704086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202004088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endParaRPr kumimoji="0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 어플</a:t>
            </a:r>
            <a:endParaRPr kumimoji="0" lang="ko-KR" alt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0032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88375" y="1659285"/>
            <a:ext cx="41083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 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배경 및 필요성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사이트 분석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목표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10838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</a:t>
            </a:r>
            <a:r>
              <a:rPr lang="ko-KR" altLang="en-US" sz="32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환경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6.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내용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7.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방법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8.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개발 일정</a:t>
            </a: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3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9.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기대효과 및 활용</a:t>
            </a:r>
          </a:p>
        </p:txBody>
      </p:sp>
    </p:spTree>
    <p:extLst>
      <p:ext uri="{BB962C8B-B14F-4D97-AF65-F5344CB8AC3E}">
        <p14:creationId xmlns:p14="http://schemas.microsoft.com/office/powerpoint/2010/main" val="3975752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오늘도 나 배가 고프다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  <a:r>
              <a:rPr kumimoji="0" lang="ko-KR" alt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어플은</a:t>
            </a:r>
            <a:r>
              <a:rPr kumimoji="0" lang="en-US" altLang="ko-KR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??!</a:t>
            </a:r>
            <a:endParaRPr kumimoji="0" lang="ko-KR" alt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마루 부리 Beta"/>
                <a:cs typeface="+mn-cs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55293" y="3412714"/>
              <a:ext cx="588141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다이어트와 건강에 관심이 많은 사람들을 위해</a:t>
              </a:r>
              <a:endPara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endParaRPr>
            </a:p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음식 성분과 </a:t>
              </a:r>
              <a:r>
                <a:rPr lang="ko-KR" altLang="en-US" sz="2000" dirty="0">
                  <a:solidFill>
                    <a:srgbClr val="CAB5BD">
                      <a:lumMod val="50000"/>
                    </a:srgb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메뉴를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 </a:t>
              </a:r>
              <a:r>
                <a:rPr kumimoji="0" lang="ko-KR" alt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모바일 디바이스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를 이용하여 </a:t>
              </a:r>
              <a:r>
                <a:rPr kumimoji="0" lang="en-US" altLang="ko-KR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AR</a:t>
              </a:r>
              <a:r>
                <a:rPr kumimoji="0" lang="ko-KR" altLang="en-US" sz="2000" b="0" i="0" u="none" strike="noStrike" kern="1200" cap="none" spc="0" normalizeH="0" baseline="0" noProof="0" dirty="0">
                  <a:ln>
                    <a:noFill/>
                  </a:ln>
                  <a:solidFill>
                    <a:srgbClr val="CAB5BD">
                      <a:lumMod val="50000"/>
                    </a:srgbClr>
                  </a:solidFill>
                  <a:effectLst/>
                  <a:uLnTx/>
                  <a:uFillTx/>
                  <a:latin typeface="휴먼매직체" panose="02030504000101010101" pitchFamily="18" charset="-127"/>
                  <a:ea typeface="휴먼매직체" panose="02030504000101010101" pitchFamily="18" charset="-127"/>
                  <a:cs typeface="+mn-cs"/>
                </a:rPr>
                <a:t>로 분석해 건강을 관리해주는 어플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4320" y="294640"/>
            <a:ext cx="25695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1.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개요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CD0AB23-035A-7CED-AF07-C0BD544940F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9442" y="5397266"/>
            <a:ext cx="60372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음식과 메뉴의 영양성분을 분석하고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내 체형과 체질에 맞는 하루 권장량을 알아서 </a:t>
            </a:r>
            <a:r>
              <a:rPr lang="ko-KR" altLang="en-US" dirty="0">
                <a:solidFill>
                  <a:srgbClr val="CAB5BD">
                    <a:lumMod val="5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계산하고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추천 식당과 평점 등을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보여줘 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srgbClr val="CAB5BD">
                  <a:lumMod val="5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CAB5BD">
                    <a:lumMod val="5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 경험을 극대화</a:t>
            </a:r>
          </a:p>
        </p:txBody>
      </p:sp>
    </p:spTree>
    <p:extLst>
      <p:ext uri="{BB962C8B-B14F-4D97-AF65-F5344CB8AC3E}">
        <p14:creationId xmlns:p14="http://schemas.microsoft.com/office/powerpoint/2010/main" val="326280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11525"/>
            <a:ext cx="4082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09" y="1078954"/>
            <a:ext cx="6423529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“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코로나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의 역설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...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다이어트족 늘어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363636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000" b="1" i="0" u="none" strike="noStrike" kern="1200" cap="none" spc="0" normalizeH="0" baseline="0" noProof="0" dirty="0">
              <a:ln>
                <a:noFill/>
              </a:ln>
              <a:solidFill>
                <a:srgbClr val="363636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대한비만학회의 ‘코로나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시대 국민 체중 관리 현황 및  비만 인식 조사’ 결과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응답자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 중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4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명은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이전 대비 체중이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3kg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이상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222222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222222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	</a:t>
            </a: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외식도 어려워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집밥이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늘고 있는데 이 때문에 다이어트에 좋은 음식들과 식재료들 판매량 증가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70915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&lt;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김정하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/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식품업체 마케팅담당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&gt; "5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월 출시 이후 코로나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19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와 맞물려 건강식에 대한 소비자 관심이 증가하면서 지속적인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매출량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증가세를 보이고 있습니다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.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탄수화물 부담 없이 섭취할 수 있는 장점이 있어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070915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…"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431FF5-785E-DA66-49B6-6F301FB6EF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3667" y="1165393"/>
            <a:ext cx="4680251" cy="52636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711EC75-AB4A-C711-B656-05BF7592EC8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7915" y="6511458"/>
            <a:ext cx="84392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출처 </a:t>
            </a:r>
            <a:r>
              <a:rPr kumimoji="0" lang="en-US" altLang="ko-KR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���� ���"/>
                <a:cs typeface="+mn-cs"/>
              </a:rPr>
              <a:t>https://m.yonhapnewstv.co.kr/news/MYH20200830000600641</a:t>
            </a:r>
            <a:endParaRPr kumimoji="0" lang="ko-KR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22686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33461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2.</a:t>
            </a:r>
            <a:r>
              <a:rPr kumimoji="0" lang="ko-KR" altLang="en-US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배경 및 필요성 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-30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-30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-30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4891" y="1087004"/>
            <a:ext cx="1156001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개인마다 필요 열량에 따른 영양 성분의 기준치가 다르고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대부분 자신의 기준치를 잘 모름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영양 성분표를 보면 직관적으로 알아보기 </a:t>
            </a:r>
            <a:r>
              <a:rPr lang="ko-KR" altLang="en-US" sz="2000" dirty="0" err="1">
                <a:solidFill>
                  <a:prstClr val="black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쉽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 않고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자신이 관심 있는 영양소만 대충 보고 넘어가는 경우가 많음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 성분표도 전체 성분만 표시되어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내가 먹고 싶은 만큼만 먹었을 때는 어느 정도로 영양을 섭취했는지 직관적으로 알기 어려움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842C7D-7B87-9665-98D1-3DD4E4F122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354" y="3549641"/>
            <a:ext cx="5211089" cy="2211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ECC41E2-D4EE-6789-EE8F-B0ACE90492E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8031" y="3064676"/>
            <a:ext cx="5117588" cy="3638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081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632267-7F9C-E254-A393-98CC415F8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62256" y="2124459"/>
            <a:ext cx="2324045" cy="232404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BD2CD3-EFF0-55C2-FF77-0E1189E599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28575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 헬스케어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EFB5A57-61D7-2295-D814-23B4F4CB16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221" y="2124459"/>
            <a:ext cx="3443287" cy="229135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42C0508-D95A-44FF-389F-01928CBC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572163" y="4621472"/>
            <a:ext cx="159140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95000"/>
                  </a:prst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FD8A296-8969-F074-6B3E-E43FEBDC34C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403694" y="4620610"/>
            <a:ext cx="14385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(Suggestic)</a:t>
            </a:r>
            <a:endParaRPr kumimoji="0" lang="ko-KR" altLang="en-US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8AD117A-32B9-F431-7B4F-2F21CE1F9F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0490" y="2124459"/>
            <a:ext cx="2324045" cy="2324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9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5455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 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8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39332172-1309-1F56-6DEA-DAED3C686C7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229135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358855" y="1454201"/>
            <a:ext cx="4823669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국내 싣단기록 어플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모든 기록을 한곳에서 쉽게 관리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사람들과 함께 공유 및 소통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미션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주간 리포트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 등 다양한 기능 탑재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6801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67BEC144-DD7C-65F4-CA52-1FA806B4A79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88" y="2060459"/>
            <a:ext cx="9293050" cy="3626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/>
          </p:cNvSpPr>
          <p:nvPr/>
        </p:nvSpPr>
        <p:spPr>
          <a:xfrm>
            <a:off x="391581" y="1076471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음식을 알아보기 쉽게 크게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*찍은 시간 자동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685904" y="5870080"/>
            <a:ext cx="36645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식사에 따른 칼로리와 영양성분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표로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먹은 양에 대한 영양성분은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X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직접 기입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AFC597-1373-99F8-530C-DAC9FBBCD92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75371" y="5870080"/>
            <a:ext cx="4261447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캘린더에 운동과 식단기록을 색깔선으로 표현해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한눈에 보기 쉽게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각 선의 의미는 안나와있음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60037" y="1045694"/>
            <a:ext cx="451900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걸음수 자동측정 기능과 운동을 직접 기입해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</p:cNvCxnSpPr>
          <p:nvPr/>
        </p:nvCxnSpPr>
        <p:spPr>
          <a:xfrm rot="10800000" flipH="1" flipV="1">
            <a:off x="391581" y="1491969"/>
            <a:ext cx="1023458" cy="779347"/>
          </a:xfrm>
          <a:prstGeom prst="bentConnector3">
            <a:avLst>
              <a:gd name="adj1" fmla="val -2233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184624" y="5536519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260037" y="1476581"/>
            <a:ext cx="929328" cy="989782"/>
          </a:xfrm>
          <a:prstGeom prst="bentConnector4">
            <a:avLst>
              <a:gd name="adj1" fmla="val -24598"/>
              <a:gd name="adj2" fmla="val 7176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1BD1B15C-C508-3577-4F92-D76588D401FE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5400000" flipH="1" flipV="1">
            <a:off x="9216267" y="5516170"/>
            <a:ext cx="643738" cy="64082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34DA66EA-17EA-F44D-BFE6-CD94C5E3B8F1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2A4D2-66C0-C8A2-2F65-AB6B624E27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3584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7FA244E6-62DB-66B6-0243-96420B8E7E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5300" y="1963083"/>
            <a:ext cx="8734425" cy="3848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F539794-B6C4-E271-A289-1E1FC82261C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415255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원하는 목표에 따라 그룹 만들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디데이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강도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이모티콘으로 알기 쉽게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5D867161-3D99-D2E0-15B1-0F8982986CF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1"/>
            <a:endCxn id="4" idx="1"/>
          </p:cNvCxnSpPr>
          <p:nvPr/>
        </p:nvCxnSpPr>
        <p:spPr>
          <a:xfrm rot="10800000" flipH="1" flipV="1">
            <a:off x="738230" y="1368923"/>
            <a:ext cx="1027069" cy="2518209"/>
          </a:xfrm>
          <a:prstGeom prst="bentConnector3">
            <a:avLst>
              <a:gd name="adj1" fmla="val -2225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980E072-8890-1011-0E2D-5AA566EE1C6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019754" y="5927861"/>
            <a:ext cx="36645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랭킹과 멤버 수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등을 실시간으로 공유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요일 별로 기록되어 그룹의 성장을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91D33852-5D7E-D4AD-CC59-74E1186B1D84}"/>
              </a:ext>
            </a:extLst>
          </p:cNvPr>
          <p:cNvCxnSpPr>
            <a:cxnSpLocks noGrp="1" noRot="1" noMove="1" noResize="1" noEditPoints="1" noAdjustHandles="1" noChangeArrowheads="1" noChangeShapeType="1"/>
            <a:stCxn id="10" idx="0"/>
          </p:cNvCxnSpPr>
          <p:nvPr/>
        </p:nvCxnSpPr>
        <p:spPr>
          <a:xfrm rot="16200000" flipV="1">
            <a:off x="5518474" y="5594300"/>
            <a:ext cx="643738" cy="2338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D811B50-310F-3B68-D58D-F005093303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68135" y="537927"/>
            <a:ext cx="446886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기록을 사진이나 그림으로 표현 하여 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운동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물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걸음 수로 나뉘어져 있어 깔금함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일기처럼 표현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*공유한 기록에 대해 멤버끼리 댓글로 소통 가능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8E4AB879-40F3-07DC-4E12-43EDCB62ACF3}"/>
              </a:ext>
            </a:extLst>
          </p:cNvPr>
          <p:cNvCxnSpPr>
            <a:cxnSpLocks noGrp="1" noRot="1" noMove="1" noResize="1" noEditPoints="1" noAdjustHandles="1" noChangeArrowheads="1" noChangeShapeType="1"/>
            <a:stCxn id="13" idx="2"/>
          </p:cNvCxnSpPr>
          <p:nvPr/>
        </p:nvCxnSpPr>
        <p:spPr>
          <a:xfrm rot="5400000">
            <a:off x="8725366" y="2025390"/>
            <a:ext cx="1287446" cy="466956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699059E-65B2-A628-1AC5-9F279593A8F5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3F2EBD-112D-0BF6-0521-4CF51334823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2711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5C985B2-05A8-393D-17C1-03CB43198F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200" y="1940958"/>
            <a:ext cx="9572625" cy="37814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8D6EFF-2308-9279-96F4-6467FBCF505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38231" y="1076536"/>
            <a:ext cx="34814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특정 미션을 선택하여 달성하도록 함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*남은 시간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달성여부를 쉽게 알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C4384591-7A9D-5E6A-9E5A-CC4BC7CF177A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1"/>
            <a:endCxn id="5" idx="1"/>
          </p:cNvCxnSpPr>
          <p:nvPr/>
        </p:nvCxnSpPr>
        <p:spPr>
          <a:xfrm rot="10800000" flipH="1" flipV="1">
            <a:off x="738230" y="1492035"/>
            <a:ext cx="607969" cy="2339636"/>
          </a:xfrm>
          <a:prstGeom prst="bentConnector3">
            <a:avLst>
              <a:gd name="adj1" fmla="val -3760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9992C4D-DB1A-9C7F-89E4-4A3DC71D9A9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30521" y="5781464"/>
            <a:ext cx="38994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*생존인원과 확률을 위에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미선 성공 여부를 표로 깔끔하게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*색으로 달성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탈락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미완료를 구분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ABBEF8CB-D60E-017B-DF71-5F7B49717B83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0"/>
          </p:cNvCxnSpPr>
          <p:nvPr/>
        </p:nvCxnSpPr>
        <p:spPr>
          <a:xfrm rot="16200000" flipV="1">
            <a:off x="4687964" y="5389180"/>
            <a:ext cx="643738" cy="14083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DBA17FA-3B37-4351-0EB9-3D805002E56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68579" y="1056334"/>
            <a:ext cx="45190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기간 완료 후 성공여부와 확률을 큰화면으로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그룹의 생존율도 알 수있게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AB9569A6-84AE-1566-D405-5A0985902C49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6568579" y="1348721"/>
            <a:ext cx="687898" cy="983417"/>
          </a:xfrm>
          <a:prstGeom prst="bentConnector4">
            <a:avLst>
              <a:gd name="adj1" fmla="val -33232"/>
              <a:gd name="adj2" fmla="val 64866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F616677-2E7B-E535-0749-BBF34C58CB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274371" y="5911150"/>
            <a:ext cx="2748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끝까지 성공 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선물을 제공하여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의지를 더 높힐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7" name="연결선: 꺾임 16">
            <a:extLst>
              <a:ext uri="{FF2B5EF4-FFF2-40B4-BE49-F238E27FC236}">
                <a16:creationId xmlns:a16="http://schemas.microsoft.com/office/drawing/2014/main" id="{9C68667D-F07B-2E0B-DA9C-E1377BFBEE0B}"/>
              </a:ext>
            </a:extLst>
          </p:cNvPr>
          <p:cNvCxnSpPr>
            <a:cxnSpLocks noGrp="1" noRot="1" noMove="1" noResize="1" noEditPoints="1" noAdjustHandles="1" noChangeArrowheads="1" noChangeShapeType="1"/>
            <a:stCxn id="16" idx="3"/>
            <a:endCxn id="5" idx="3"/>
          </p:cNvCxnSpPr>
          <p:nvPr/>
        </p:nvCxnSpPr>
        <p:spPr>
          <a:xfrm flipH="1" flipV="1">
            <a:off x="10918825" y="3831671"/>
            <a:ext cx="104310" cy="2371867"/>
          </a:xfrm>
          <a:prstGeom prst="bentConnector3">
            <a:avLst>
              <a:gd name="adj1" fmla="val -21915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EF238D6-D4D8-CD8C-9313-1EC1E05CB177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971890-37D0-ED8D-89BF-51DCD983215D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6362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lang="ko-KR" altLang="en-US" sz="2000" dirty="0" err="1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r>
              <a:rPr lang="en-US" altLang="ko-KR" sz="2000" dirty="0">
                <a:solidFill>
                  <a:prstClr val="white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6D6462E-3B3A-7005-5085-FEA3BC48267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511" y="1578747"/>
            <a:ext cx="6029325" cy="47910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A4108E-9E52-DD6D-8476-1A7C37E0BD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6545" y="1966473"/>
            <a:ext cx="304566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매주 업데이트 되는 주간 리포트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*하루 전체 기록을 한번에 볼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*설정된 목표량에 따른 그날의 기록을 표로 쉽게 표시해 식단 조절이 쉬움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8" name="연결선: 꺾임 7">
            <a:extLst>
              <a:ext uri="{FF2B5EF4-FFF2-40B4-BE49-F238E27FC236}">
                <a16:creationId xmlns:a16="http://schemas.microsoft.com/office/drawing/2014/main" id="{B4AC0F4F-9A7D-6F4A-2688-12B27A18F2B5}"/>
              </a:ext>
            </a:extLst>
          </p:cNvPr>
          <p:cNvCxnSpPr>
            <a:cxnSpLocks noGrp="1" noRot="1" noMove="1" noResize="1" noEditPoints="1" noAdjustHandles="1" noChangeArrowheads="1" noChangeShapeType="1"/>
            <a:stCxn id="6" idx="2"/>
            <a:endCxn id="4" idx="1"/>
          </p:cNvCxnSpPr>
          <p:nvPr/>
        </p:nvCxnSpPr>
        <p:spPr>
          <a:xfrm rot="16200000" flipH="1">
            <a:off x="2389646" y="2653420"/>
            <a:ext cx="930594" cy="1711135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2F336F2-CF5A-A3A5-3591-812CFF3469D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98047" y="1092186"/>
            <a:ext cx="29529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올린기록 모아보기 기능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*날짜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제목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사진을 알아보기 쉽게 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깔끔하게 배치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*클릭 시 그날의 작성된 기록을 바로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볼 수있음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2" name="연결선: 꺾임 11">
            <a:extLst>
              <a:ext uri="{FF2B5EF4-FFF2-40B4-BE49-F238E27FC236}">
                <a16:creationId xmlns:a16="http://schemas.microsoft.com/office/drawing/2014/main" id="{988F5AED-3D3A-3DEA-7381-BBDE55C55671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3"/>
            <a:endCxn id="4" idx="3"/>
          </p:cNvCxnSpPr>
          <p:nvPr/>
        </p:nvCxnSpPr>
        <p:spPr>
          <a:xfrm flipH="1">
            <a:off x="9739836" y="1753906"/>
            <a:ext cx="1711135" cy="2220379"/>
          </a:xfrm>
          <a:prstGeom prst="bentConnector3">
            <a:avLst>
              <a:gd name="adj1" fmla="val -1336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0619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밀리그램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ECE52B-C87C-47ED-3377-19B3BDFE6B8A}"/>
              </a:ext>
            </a:extLst>
          </p:cNvPr>
          <p:cNvSpPr txBox="1"/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23173" y="1702064"/>
            <a:ext cx="4927132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기록할 때마다 실시간으로 변하는 영양성분 섭취량과 남은 양을 눈에 보기 쉽게 표시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양에 대한 영양성분을 직접 기입해야하기 때문에 자동으로 기입이 되게 표현할 필요성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올릴 때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자동으로 시간이 기록되는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것을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표현하면 더 보기 쉬울것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02064"/>
            <a:ext cx="501102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사진을 크게 배치하여 주제를 쉽게 파악 가능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그룹과 서바이벌 프로그램을 통해 다른 유저들과 공유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소통을 통해 의지 상승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설정된 목표량과 내가 이룬 양을 비교할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1861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6126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FC7628-6553-1818-4928-464DDDFFA105}"/>
              </a:ext>
            </a:extLst>
          </p:cNvPr>
          <p:cNvSpPr txBox="1"/>
          <p:nvPr/>
        </p:nvSpPr>
        <p:spPr>
          <a:xfrm>
            <a:off x="6358855" y="1454201"/>
            <a:ext cx="482366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렌즈 사용한 다이어트 앱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식단을 개별성분으로 변환해 개인의 식단에 맞춰볼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사용자의 생활습관을 수용하는 방식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497923-B763-83E1-2A6F-26065D784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7780" y="1495329"/>
            <a:ext cx="3599446" cy="359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331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1AF264-3ECE-330D-0F59-8C10020862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111248" y="1839773"/>
            <a:ext cx="6042529" cy="3847963"/>
            <a:chOff x="837391" y="0"/>
            <a:chExt cx="11325725" cy="685800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84D0539F-E506-6A28-F197-D2EEB4EABAB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7391" y="0"/>
              <a:ext cx="3840270" cy="6858000"/>
            </a:xfrm>
            <a:prstGeom prst="rect">
              <a:avLst/>
            </a:prstGeom>
          </p:spPr>
        </p:pic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2CC18F5-1686-374E-A1B6-2E7B6901FA8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654019" y="0"/>
              <a:ext cx="7509097" cy="6858000"/>
              <a:chOff x="4677661" y="0"/>
              <a:chExt cx="7509097" cy="6858000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74201810-B872-3599-CB8C-0793D019129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677661" y="0"/>
                <a:ext cx="3759506" cy="6858000"/>
              </a:xfrm>
              <a:prstGeom prst="rect">
                <a:avLst/>
              </a:prstGeom>
            </p:spPr>
          </p:pic>
          <p:pic>
            <p:nvPicPr>
              <p:cNvPr id="14" name="그림 13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5BA179FA-7912-13EB-8D9C-C93F4857D0E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4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30444" y="0"/>
                <a:ext cx="3756314" cy="6858000"/>
              </a:xfrm>
              <a:prstGeom prst="rect">
                <a:avLst/>
              </a:prstGeom>
            </p:spPr>
          </p:pic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F34F69-6A43-CE2B-9403-869FDD7131F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941665"/>
            <a:ext cx="410594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*목표입력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선호 와 제한식단 추가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*채식 식단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당뇨예방 식단 등 다양한 식단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9284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식단계획을 세워줌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그림으로 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신체기록을 사진과 함께 기록해 알아보기 쉬움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식단 계획과 쇼핑리스트를 입력할 수 있음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257695" y="1864804"/>
            <a:ext cx="1205433" cy="1021148"/>
          </a:xfrm>
          <a:prstGeom prst="bentConnector3">
            <a:avLst>
              <a:gd name="adj1" fmla="val 99411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166146" y="2755857"/>
            <a:ext cx="1207907" cy="4353631"/>
          </a:xfrm>
          <a:prstGeom prst="bentConnector4">
            <a:avLst>
              <a:gd name="adj1" fmla="val -71707"/>
              <a:gd name="adj2" fmla="val 100537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1"/>
          </p:cNvCxnSpPr>
          <p:nvPr/>
        </p:nvCxnSpPr>
        <p:spPr>
          <a:xfrm rot="10800000" flipH="1" flipV="1">
            <a:off x="8186117" y="1456847"/>
            <a:ext cx="643348" cy="1209846"/>
          </a:xfrm>
          <a:prstGeom prst="bentConnector4">
            <a:avLst>
              <a:gd name="adj1" fmla="val -35533"/>
              <a:gd name="adj2" fmla="val 62084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09790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981A16E2-5313-05F8-53EF-A5E170D8F59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602099" y="1993392"/>
            <a:ext cx="8829465" cy="4395831"/>
            <a:chOff x="0" y="0"/>
            <a:chExt cx="11381736" cy="685800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E7536CC3-04D6-71B3-44AD-E484885D193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3828829" cy="6858000"/>
            </a:xfrm>
            <a:prstGeom prst="rect">
              <a:avLst/>
            </a:prstGeom>
          </p:spPr>
        </p:pic>
        <p:pic>
          <p:nvPicPr>
            <p:cNvPr id="12" name="그림 11" descr="텍스트이(가) 표시된 사진&#10;&#10;자동 생성된 설명">
              <a:extLst>
                <a:ext uri="{FF2B5EF4-FFF2-40B4-BE49-F238E27FC236}">
                  <a16:creationId xmlns:a16="http://schemas.microsoft.com/office/drawing/2014/main" id="{54703F62-8BCB-EE79-7790-715E4A1AD10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8178" y="0"/>
              <a:ext cx="3782101" cy="685800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E37634B-1D3E-E9BF-422E-A7F9CB58890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90279" y="0"/>
              <a:ext cx="3791457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095824"/>
            <a:ext cx="41059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깔끔한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UI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*나의 체질에 맞는 다양한 조리법을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05297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개인화된 영양계획을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검색하고 필터링 가능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*섭취량과 목표량을 보기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쉽게 수치화해 표시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86117" y="1164459"/>
            <a:ext cx="38017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가장 적합한 음식을 검색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재료별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레시피 별로 나뉘어짐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1959150" y="2071286"/>
            <a:ext cx="1795524" cy="1014150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5400000" flipH="1" flipV="1">
            <a:off x="3093058" y="2559011"/>
            <a:ext cx="1454128" cy="4993543"/>
          </a:xfrm>
          <a:prstGeom prst="bentConnector4">
            <a:avLst>
              <a:gd name="adj1" fmla="val -15721"/>
              <a:gd name="adj2" fmla="val 60278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16200000" flipH="1">
            <a:off x="9760270" y="2075957"/>
            <a:ext cx="1136580" cy="483134"/>
          </a:xfrm>
          <a:prstGeom prst="bentConnector3">
            <a:avLst>
              <a:gd name="adj1" fmla="val 5000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0A0A1B0-704D-489A-9325-B845291D5F0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20116F-E198-88DB-6745-4F1E85312F2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67975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그룹 13">
            <a:extLst>
              <a:ext uri="{FF2B5EF4-FFF2-40B4-BE49-F238E27FC236}">
                <a16:creationId xmlns:a16="http://schemas.microsoft.com/office/drawing/2014/main" id="{207580FB-F7D3-1E75-D8A3-D48EE4FD0D51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245593" y="1388211"/>
            <a:ext cx="5294399" cy="5028216"/>
            <a:chOff x="913454" y="47123"/>
            <a:chExt cx="7274882" cy="6858000"/>
          </a:xfrm>
        </p:grpSpPr>
        <p:pic>
          <p:nvPicPr>
            <p:cNvPr id="5" name="그림 4" descr="텍스트이(가) 표시된 사진&#10;&#10;자동 생성된 설명">
              <a:extLst>
                <a:ext uri="{FF2B5EF4-FFF2-40B4-BE49-F238E27FC236}">
                  <a16:creationId xmlns:a16="http://schemas.microsoft.com/office/drawing/2014/main" id="{039901C2-415B-48EE-EED9-A56FB8C8E084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87836" y="47123"/>
              <a:ext cx="4000500" cy="6858000"/>
            </a:xfrm>
            <a:prstGeom prst="rect">
              <a:avLst/>
            </a:prstGeom>
          </p:spPr>
        </p:pic>
        <p:pic>
          <p:nvPicPr>
            <p:cNvPr id="10" name="그림 9" descr="텍스트이(가) 표시된 사진&#10;&#10;자동 생성된 설명">
              <a:extLst>
                <a:ext uri="{FF2B5EF4-FFF2-40B4-BE49-F238E27FC236}">
                  <a16:creationId xmlns:a16="http://schemas.microsoft.com/office/drawing/2014/main" id="{EAC1D7A2-F3E2-9717-E44F-71D60CC416C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13454" y="47123"/>
              <a:ext cx="3276600" cy="685800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1926053"/>
            <a:ext cx="275672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*식단 이미지에서 식단정보 추출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화면에 나타냄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*증강현실과 결합해 메뉴스캔시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6864" y="4459408"/>
            <a:ext cx="25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 표로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*나에게 맞는 음식인지 알려줌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6903" y="1770336"/>
            <a:ext cx="29114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*식당의 메뉴판을 스캔하여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AI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나의 체질에 맞는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가장 좋은 메뉴를 골라준다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5400000" flipH="1" flipV="1">
            <a:off x="1972559" y="1493848"/>
            <a:ext cx="1458313" cy="2052975"/>
          </a:xfrm>
          <a:prstGeom prst="bentConnector4">
            <a:avLst>
              <a:gd name="adj1" fmla="val -15676"/>
              <a:gd name="adj2" fmla="val 83570"/>
            </a:avLst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  <a:endCxn id="21" idx="1"/>
          </p:cNvCxnSpPr>
          <p:nvPr/>
        </p:nvCxnSpPr>
        <p:spPr>
          <a:xfrm rot="16200000" flipH="1">
            <a:off x="2213982" y="4663566"/>
            <a:ext cx="464443" cy="1718119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301008" y="1840319"/>
            <a:ext cx="200592" cy="1722621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AA0028A0-A0FB-10B0-644F-9C3191D7BBB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05263" y="5192785"/>
            <a:ext cx="5142452" cy="1124125"/>
          </a:xfrm>
          <a:prstGeom prst="roundRect">
            <a:avLst/>
          </a:prstGeom>
          <a:noFill/>
          <a:ln w="57150">
            <a:solidFill>
              <a:srgbClr val="6D8CA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마루 부리 Beta"/>
              <a:cs typeface="+mn-cs"/>
            </a:endParaRPr>
          </a:p>
        </p:txBody>
      </p:sp>
      <p:pic>
        <p:nvPicPr>
          <p:cNvPr id="31" name="그림 30" descr="텍스트이(가) 표시된 사진&#10;&#10;자동 생성된 설명">
            <a:extLst>
              <a:ext uri="{FF2B5EF4-FFF2-40B4-BE49-F238E27FC236}">
                <a16:creationId xmlns:a16="http://schemas.microsoft.com/office/drawing/2014/main" id="{74998BE1-E729-FF4E-4620-85E9CE7D4A6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0007" y="3731102"/>
            <a:ext cx="2838450" cy="1600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C731DE-6A9B-4683-F716-B03CAED6647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6DD64-DE98-3A84-AA51-C162D0EF910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849798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지도이(가) 표시된 사진&#10;&#10;자동 생성된 설명">
            <a:extLst>
              <a:ext uri="{FF2B5EF4-FFF2-40B4-BE49-F238E27FC236}">
                <a16:creationId xmlns:a16="http://schemas.microsoft.com/office/drawing/2014/main" id="{C80165E2-A222-CFF0-0952-FCDE7204DAA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3593" y="1483107"/>
            <a:ext cx="5729534" cy="481481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042A7E-9F72-2C38-03E2-1F0161C5E92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2280345"/>
            <a:ext cx="275672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GPS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로 이용자의 위치를 파악해   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지도에 표시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내 체질에 맞는 주변 식당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분석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후 추천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59ACAB-21CC-DD2A-B54F-6B4596D2A42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48153" y="4625557"/>
            <a:ext cx="288933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식당 클릭시 나에게 맞는 메뉴의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영양정보를 수치화 해 제공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메뉴 이름과 가격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수치를 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보기 쉽게</a:t>
            </a:r>
            <a:r>
              <a:rPr kumimoji="0" lang="en-US" altLang="ko-KR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표현</a:t>
            </a:r>
            <a:endParaRPr kumimoji="0" lang="en-US" altLang="ko-KR" sz="16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754BEA-11E5-FBBD-BE51-4D838916534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783126" y="2122674"/>
            <a:ext cx="3473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 사용하면서 쌓인 데이터를 분석하여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6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이용자에게 더 적합한 맟춤형 식당 제공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DFCFFF59-E7A2-57C6-3749-6C73A6D4AF6D}"/>
              </a:ext>
            </a:extLst>
          </p:cNvPr>
          <p:cNvCxnSpPr>
            <a:cxnSpLocks noGrp="1" noRot="1" noMove="1" noResize="1" noEditPoints="1" noAdjustHandles="1" noChangeArrowheads="1" noChangeShapeType="1"/>
            <a:stCxn id="8" idx="2"/>
          </p:cNvCxnSpPr>
          <p:nvPr/>
        </p:nvCxnSpPr>
        <p:spPr>
          <a:xfrm rot="16200000" flipH="1">
            <a:off x="2835989" y="2148092"/>
            <a:ext cx="224536" cy="2643478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240E3478-330D-EC4A-004D-B8C23A49D431}"/>
              </a:ext>
            </a:extLst>
          </p:cNvPr>
          <p:cNvCxnSpPr>
            <a:cxnSpLocks noGrp="1" noRot="1" noMove="1" noResize="1" noEditPoints="1" noAdjustHandles="1" noChangeArrowheads="1" noChangeShapeType="1"/>
            <a:stCxn id="9" idx="2"/>
          </p:cNvCxnSpPr>
          <p:nvPr/>
        </p:nvCxnSpPr>
        <p:spPr>
          <a:xfrm rot="16200000" flipH="1">
            <a:off x="2574751" y="4820842"/>
            <a:ext cx="43675" cy="180754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7FB3A7F5-280C-05F6-B845-49077D244CB6}"/>
              </a:ext>
            </a:extLst>
          </p:cNvPr>
          <p:cNvCxnSpPr>
            <a:cxnSpLocks noGrp="1" noRot="1" noMove="1" noResize="1" noEditPoints="1" noAdjustHandles="1" noChangeArrowheads="1" noChangeShapeType="1"/>
            <a:stCxn id="11" idx="2"/>
          </p:cNvCxnSpPr>
          <p:nvPr/>
        </p:nvCxnSpPr>
        <p:spPr>
          <a:xfrm rot="5400000">
            <a:off x="9294563" y="1929107"/>
            <a:ext cx="446816" cy="2003500"/>
          </a:xfrm>
          <a:prstGeom prst="bentConnector2">
            <a:avLst/>
          </a:prstGeom>
          <a:ln w="19050">
            <a:solidFill>
              <a:srgbClr val="6D8CAC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57A23D0-F2F7-938A-9ADC-81D79FA75EC6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EAD098-A71D-C929-10F9-88231BB5360D}"/>
              </a:ext>
            </a:extLst>
          </p:cNvPr>
          <p:cNvSpPr txBox="1">
            <a:spLocks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245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/>
          <p:nvPr/>
        </p:nvSpPr>
        <p:spPr>
          <a:xfrm>
            <a:off x="6448341" y="1781372"/>
            <a:ext cx="5142446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를 연동해 더 정확한 내 영양정보를 입력할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 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필요가 있음 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메뉴판 스캔시 위치와 메뉴별 내 체질에 맞는지 여부 알 수 있음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수치화된 영양정보를 표로 제공해 한눈에 보기 쉬움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/>
          <p:nvPr/>
        </p:nvSpPr>
        <p:spPr>
          <a:xfrm>
            <a:off x="601214" y="1769176"/>
            <a:ext cx="4927131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입력된 정보를 바탕으로 식단계획을 세워줌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영양성분을 알아보기 쉽게 수치화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나의 체질에 맞는 다양한 재료와 조리법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AR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활용해 메뉴스캔시 영양정보</a:t>
            </a:r>
            <a:r>
              <a:rPr kumimoji="0" lang="en-US" altLang="ko-KR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위치 제공</a:t>
            </a: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7A0E5-7D94-2131-E6FC-07AB756A6813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서제스틱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FA0F9E-5E35-9FB9-A621-FD48FAC1754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703297" y="271354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윤시현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91031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64012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15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3B3678-729F-5A63-13E1-434F98218CBB}"/>
              </a:ext>
            </a:extLst>
          </p:cNvPr>
          <p:cNvSpPr txBox="1"/>
          <p:nvPr/>
        </p:nvSpPr>
        <p:spPr>
          <a:xfrm>
            <a:off x="5368954" y="2091765"/>
            <a:ext cx="594162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선정이유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10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억 회 이상 다운로드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건강관리 및 헬스 서비스를 지원하는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라이프로깅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플랫폼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음식 성분 확인 가능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A76BA36-31E4-F0C8-7D38-DB433307F93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326" y="2091765"/>
            <a:ext cx="3443287" cy="3070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F692727-6D85-371F-7C4D-E06D1D02350E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5463953" cy="3778231"/>
            <a:chOff x="741527" y="1489045"/>
            <a:chExt cx="5463953" cy="3778231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C34E1870-6EB4-9917-DCA4-13843040A770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41527" y="1489045"/>
              <a:ext cx="2545508" cy="3527571"/>
              <a:chOff x="741527" y="1489045"/>
              <a:chExt cx="2545508" cy="3527571"/>
            </a:xfrm>
          </p:grpSpPr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CA376841-4969-9C3E-68C3-ACD70871DEC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2" cstate="screen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527" y="1489045"/>
                <a:ext cx="2545508" cy="3527571"/>
              </a:xfrm>
              <a:prstGeom prst="rect">
                <a:avLst/>
              </a:prstGeom>
            </p:spPr>
          </p:pic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440B3EAB-1DA1-AB8E-81B0-9505431F458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1" y="1937857"/>
                <a:ext cx="526639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DF95C5B-BCC1-442D-7FB4-597CBA6BDA22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1212" y="2923043"/>
                <a:ext cx="451138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C9195E59-D02E-BD23-7B21-1CBC67CE5AD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84434" y="3693791"/>
                <a:ext cx="325302" cy="201335"/>
              </a:xfrm>
              <a:prstGeom prst="rect">
                <a:avLst/>
              </a:prstGeom>
              <a:solidFill>
                <a:srgbClr val="21345C">
                  <a:alpha val="0"/>
                </a:srgbClr>
              </a:solidFill>
              <a:ln w="19050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0C80840C-3835-AD04-8DA0-708F35BCDEAF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9" idx="3"/>
              <a:endCxn id="24" idx="1"/>
            </p:cNvCxnSpPr>
            <p:nvPr/>
          </p:nvCxnSpPr>
          <p:spPr>
            <a:xfrm>
              <a:off x="1427850" y="2038525"/>
              <a:ext cx="2232122" cy="300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BDA25A8-9673-A0E2-A9B4-3D089F9D9CDD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1687586"/>
              <a:ext cx="254550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걸음 수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활동시간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활동 칼로리 등 확인 가능</a:t>
              </a:r>
            </a:p>
          </p:txBody>
        </p:sp>
        <p:cxnSp>
          <p:nvCxnSpPr>
            <p:cNvPr id="27" name="직선 화살표 연결선 26">
              <a:extLst>
                <a:ext uri="{FF2B5EF4-FFF2-40B4-BE49-F238E27FC236}">
                  <a16:creationId xmlns:a16="http://schemas.microsoft.com/office/drawing/2014/main" id="{DE471C82-5FC1-97C9-A77E-89B144E68569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0" idx="3"/>
              <a:endCxn id="29" idx="1"/>
            </p:cNvCxnSpPr>
            <p:nvPr/>
          </p:nvCxnSpPr>
          <p:spPr>
            <a:xfrm>
              <a:off x="1352350" y="3023711"/>
              <a:ext cx="2307622" cy="14295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4E1A6-3418-BFA9-05A7-4E3BC2DE19B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2684063"/>
              <a:ext cx="233815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기록된 걸음 수와 평균 걸음 수 비교 가능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D55AEB-FCF7-54A8-0640-57B622F73961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659972" y="4251613"/>
              <a:ext cx="254550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걷기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달리기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자전거 타기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근력운동 기구 등 운동할 종목 선택 후 기록</a:t>
              </a:r>
            </a:p>
          </p:txBody>
        </p:sp>
        <p:cxnSp>
          <p:nvCxnSpPr>
            <p:cNvPr id="38" name="연결선: 꺾임 37">
              <a:extLst>
                <a:ext uri="{FF2B5EF4-FFF2-40B4-BE49-F238E27FC236}">
                  <a16:creationId xmlns:a16="http://schemas.microsoft.com/office/drawing/2014/main" id="{0B155983-8681-57FE-F813-F650B68136C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2"/>
              <a:endCxn id="30" idx="1"/>
            </p:cNvCxnSpPr>
            <p:nvPr/>
          </p:nvCxnSpPr>
          <p:spPr>
            <a:xfrm rot="16200000" flipH="1">
              <a:off x="1921369" y="3020841"/>
              <a:ext cx="864319" cy="261288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2FBC53B2-7EEE-CF3A-9CAB-88C85135BD20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2216162" y="1362305"/>
            <a:ext cx="9375076" cy="5036603"/>
            <a:chOff x="2216162" y="1362305"/>
            <a:chExt cx="9375076" cy="5036603"/>
          </a:xfrm>
        </p:grpSpPr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1B6AF8D6-4F12-D065-8256-2827042A18C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375034" y="1362305"/>
              <a:ext cx="5216204" cy="3654312"/>
              <a:chOff x="6375034" y="1362305"/>
              <a:chExt cx="5216204" cy="3654312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2AA3A336-E914-267C-5EE2-E7A1EA5F88C8}"/>
                  </a:ext>
                </a:extLst>
              </p:cNvPr>
              <p:cNvGrpSpPr>
                <a:grpSpLocks noGrp="1" noUngrp="1" noRot="1" noMove="1" noResize="1"/>
              </p:cNvGrpSpPr>
              <p:nvPr/>
            </p:nvGrpSpPr>
            <p:grpSpPr>
              <a:xfrm>
                <a:off x="6375034" y="1489045"/>
                <a:ext cx="2191627" cy="3527572"/>
                <a:chOff x="6375034" y="1489045"/>
                <a:chExt cx="2191627" cy="3527572"/>
              </a:xfrm>
            </p:grpSpPr>
            <p:pic>
              <p:nvPicPr>
                <p:cNvPr id="18" name="그림 17">
                  <a:extLst>
                    <a:ext uri="{FF2B5EF4-FFF2-40B4-BE49-F238E27FC236}">
                      <a16:creationId xmlns:a16="http://schemas.microsoft.com/office/drawing/2014/main" id="{AF4EE3CB-22C6-BEA1-D118-F83BD7982891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 cstate="screen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375034" y="1489045"/>
                  <a:ext cx="2191627" cy="3527572"/>
                </a:xfrm>
                <a:prstGeom prst="rect">
                  <a:avLst/>
                </a:prstGeom>
              </p:spPr>
            </p:pic>
            <p:sp>
              <p:nvSpPr>
                <p:cNvPr id="13" name="직사각형 12">
                  <a:extLst>
                    <a:ext uri="{FF2B5EF4-FFF2-40B4-BE49-F238E27FC236}">
                      <a16:creationId xmlns:a16="http://schemas.microsoft.com/office/drawing/2014/main" id="{ED7194EE-9B9B-FB8E-1975-23FB7DB36A1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161558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050CF162-C50C-5D69-53E6-ED37D1416274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269311"/>
                  <a:ext cx="325302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5" name="직사각형 14">
                  <a:extLst>
                    <a:ext uri="{FF2B5EF4-FFF2-40B4-BE49-F238E27FC236}">
                      <a16:creationId xmlns:a16="http://schemas.microsoft.com/office/drawing/2014/main" id="{32C5BF47-E79F-7705-A775-D356781934F8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2923042"/>
                  <a:ext cx="62590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A2EA72B2-5618-0D66-D5DA-D715148BBA81}"/>
                    </a:ext>
                  </a:extLst>
                </p:cNvPr>
                <p:cNvSpPr>
                  <a:spLocks noGrp="1" noRot="1" noMove="1" noResize="1" noEditPoints="1" noAdjustHandles="1" noChangeArrowheads="1" noChangeShapeType="1"/>
                </p:cNvSpPr>
                <p:nvPr/>
              </p:nvSpPr>
              <p:spPr>
                <a:xfrm>
                  <a:off x="6482926" y="3705552"/>
                  <a:ext cx="223237" cy="201335"/>
                </a:xfrm>
                <a:prstGeom prst="rect">
                  <a:avLst/>
                </a:prstGeom>
                <a:solidFill>
                  <a:srgbClr val="21345C">
                    <a:alpha val="0"/>
                  </a:srgbClr>
                </a:solidFill>
                <a:ln w="19050"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>
                    <a:latin typeface="휴먼매직체" panose="02030504000101010101" pitchFamily="18" charset="-127"/>
                    <a:ea typeface="휴먼매직체" panose="02030504000101010101" pitchFamily="18" charset="-127"/>
                  </a:endParaRPr>
                </a:p>
              </p:txBody>
            </p:sp>
          </p:grpSp>
          <p:cxnSp>
            <p:nvCxnSpPr>
              <p:cNvPr id="45" name="직선 화살표 연결선 44">
                <a:extLst>
                  <a:ext uri="{FF2B5EF4-FFF2-40B4-BE49-F238E27FC236}">
                    <a16:creationId xmlns:a16="http://schemas.microsoft.com/office/drawing/2014/main" id="{CF9B5D4B-1750-BDF2-9C0E-9DFD969E84F5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3" idx="3"/>
                <a:endCxn id="46" idx="1"/>
              </p:cNvCxnSpPr>
              <p:nvPr/>
            </p:nvCxnSpPr>
            <p:spPr>
              <a:xfrm flipV="1">
                <a:off x="6808228" y="1716248"/>
                <a:ext cx="2237502" cy="1"/>
              </a:xfrm>
              <a:prstGeom prst="straightConnector1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999931C-EEA0-C13D-C941-4D1CB9512D8F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1362305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먹은 음식 기록 및 성분 확인 가능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40A7A4F-CD67-FD7F-A377-ABE41FFCF9E4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30" y="2391366"/>
                <a:ext cx="240474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수면 기록을 통해 수면 패턴 확인</a:t>
                </a:r>
              </a:p>
            </p:txBody>
          </p:sp>
          <p:cxnSp>
            <p:nvCxnSpPr>
              <p:cNvPr id="51" name="연결선: 꺾임 50">
                <a:extLst>
                  <a:ext uri="{FF2B5EF4-FFF2-40B4-BE49-F238E27FC236}">
                    <a16:creationId xmlns:a16="http://schemas.microsoft.com/office/drawing/2014/main" id="{22807512-1D94-C456-F206-B80054E8FBD9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4" idx="2"/>
                <a:endCxn id="50" idx="1"/>
              </p:cNvCxnSpPr>
              <p:nvPr/>
            </p:nvCxnSpPr>
            <p:spPr>
              <a:xfrm rot="16200000" flipH="1">
                <a:off x="7708322" y="1407900"/>
                <a:ext cx="274663" cy="2400153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1F09727-DB51-500E-3EE1-77CA019D0C4A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45729" y="3199001"/>
                <a:ext cx="2545508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체중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 err="1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골격근량</a:t>
                </a:r>
                <a:r>
                  <a:rPr lang="en-US" altLang="ko-KR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, </a:t>
                </a:r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체지방률 입력 및 목표 설정</a:t>
                </a:r>
              </a:p>
            </p:txBody>
          </p:sp>
          <p:cxnSp>
            <p:nvCxnSpPr>
              <p:cNvPr id="57" name="연결선: 꺾임 56">
                <a:extLst>
                  <a:ext uri="{FF2B5EF4-FFF2-40B4-BE49-F238E27FC236}">
                    <a16:creationId xmlns:a16="http://schemas.microsoft.com/office/drawing/2014/main" id="{C40FE7A5-7F7E-00C6-9294-7589E01E8B3B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5" idx="2"/>
                <a:endCxn id="56" idx="1"/>
              </p:cNvCxnSpPr>
              <p:nvPr/>
            </p:nvCxnSpPr>
            <p:spPr>
              <a:xfrm rot="16200000" flipH="1">
                <a:off x="7706521" y="2213735"/>
                <a:ext cx="428567" cy="2249849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BD9C18AB-2334-6BF1-B8FA-424418CB8ABB}"/>
                  </a:ext>
                </a:extLst>
              </p:cNvPr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9029603" y="4080358"/>
                <a:ext cx="2404743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2000" dirty="0">
                    <a:solidFill>
                      <a:schemeClr val="bg1"/>
                    </a:solidFill>
                    <a:latin typeface="휴먼매직체" panose="02030504000101010101" pitchFamily="18" charset="-127"/>
                    <a:ea typeface="휴먼매직체" panose="02030504000101010101" pitchFamily="18" charset="-127"/>
                  </a:rPr>
                  <a:t>오늘 마신 물 입력</a:t>
                </a:r>
              </a:p>
            </p:txBody>
          </p:sp>
          <p:cxnSp>
            <p:nvCxnSpPr>
              <p:cNvPr id="62" name="연결선: 꺾임 61">
                <a:extLst>
                  <a:ext uri="{FF2B5EF4-FFF2-40B4-BE49-F238E27FC236}">
                    <a16:creationId xmlns:a16="http://schemas.microsoft.com/office/drawing/2014/main" id="{31F08870-873A-F148-687E-57FE96A502BC}"/>
                  </a:ext>
                </a:extLst>
              </p:cNvPr>
              <p:cNvCxnSpPr>
                <a:cxnSpLocks noGrp="1" noRot="1" noMove="1" noResize="1" noEditPoints="1" noAdjustHandles="1" noChangeArrowheads="1" noChangeShapeType="1"/>
                <a:stCxn id="16" idx="2"/>
                <a:endCxn id="61" idx="1"/>
              </p:cNvCxnSpPr>
              <p:nvPr/>
            </p:nvCxnSpPr>
            <p:spPr>
              <a:xfrm rot="16200000" flipH="1">
                <a:off x="7625311" y="2876121"/>
                <a:ext cx="373526" cy="2435058"/>
              </a:xfrm>
              <a:prstGeom prst="bentConnector2">
                <a:avLst/>
              </a:prstGeom>
              <a:ln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8" name="연결선: 꺾임 67">
              <a:extLst>
                <a:ext uri="{FF2B5EF4-FFF2-40B4-BE49-F238E27FC236}">
                  <a16:creationId xmlns:a16="http://schemas.microsoft.com/office/drawing/2014/main" id="{080BB5C6-10C4-21D0-7138-B2315C57A9D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69" idx="2"/>
              <a:endCxn id="74" idx="3"/>
            </p:cNvCxnSpPr>
            <p:nvPr/>
          </p:nvCxnSpPr>
          <p:spPr>
            <a:xfrm rot="5400000">
              <a:off x="5425221" y="4420446"/>
              <a:ext cx="1182237" cy="2374577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21AB5940-7AD6-B7AB-5295-61BF28C7576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024942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3A85DE28-774E-DC22-B087-D95B038B727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551865" y="4643089"/>
              <a:ext cx="357369" cy="373527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08CD6537-E55F-D7EA-9738-0041F4778148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16162" y="5998798"/>
              <a:ext cx="261288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다른 사용자와 대결 가능</a:t>
              </a:r>
            </a:p>
          </p:txBody>
        </p:sp>
        <p:cxnSp>
          <p:nvCxnSpPr>
            <p:cNvPr id="80" name="연결선: 꺾임 79">
              <a:extLst>
                <a:ext uri="{FF2B5EF4-FFF2-40B4-BE49-F238E27FC236}">
                  <a16:creationId xmlns:a16="http://schemas.microsoft.com/office/drawing/2014/main" id="{3C925E1A-6362-6F40-5A9C-7AADDEEA2CB0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71" idx="2"/>
              <a:endCxn id="81" idx="1"/>
            </p:cNvCxnSpPr>
            <p:nvPr/>
          </p:nvCxnSpPr>
          <p:spPr>
            <a:xfrm rot="16200000" flipH="1">
              <a:off x="7357028" y="5390137"/>
              <a:ext cx="984889" cy="237845"/>
            </a:xfrm>
            <a:prstGeom prst="bentConnector2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B33735B6-C191-3BF9-953B-02502B2AC49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968395" y="5647562"/>
              <a:ext cx="261288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건강과 관련된 다양한 서비스 제공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949D3A8-A9F5-26AD-3B5D-DE9A9B8970E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어플</a:t>
            </a:r>
            <a:r>
              <a:rPr lang="ko-KR" altLang="en-US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분석 </a:t>
            </a:r>
            <a:r>
              <a:rPr lang="en-US" altLang="ko-KR" sz="28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 dirty="0" err="1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70776CF5-3BD4-BADD-5A00-D90D6D54EBF6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741527" y="1489045"/>
            <a:ext cx="4861263" cy="3527573"/>
            <a:chOff x="741527" y="1489045"/>
            <a:chExt cx="4861263" cy="3527573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8E50DEF-9AA9-783D-8566-10B9C175F1B9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527" y="1489045"/>
              <a:ext cx="2128989" cy="3527573"/>
            </a:xfrm>
            <a:prstGeom prst="rect">
              <a:avLst/>
            </a:prstGeom>
          </p:spPr>
        </p:pic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4491DF13-82AF-190A-2C10-9A2930F5D886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1" idx="3"/>
              <a:endCxn id="19" idx="1"/>
            </p:cNvCxnSpPr>
            <p:nvPr/>
          </p:nvCxnSpPr>
          <p:spPr>
            <a:xfrm>
              <a:off x="2768367" y="2549461"/>
              <a:ext cx="496267" cy="1194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29141251-BD00-BCF6-9801-D150B30AC58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19378" y="2428739"/>
              <a:ext cx="348989" cy="24144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342A223-90B1-8D99-CFEE-946BC4ECE07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10018" y="2759978"/>
              <a:ext cx="587230" cy="177963"/>
            </a:xfrm>
            <a:prstGeom prst="rect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4574829-D1DA-F7BB-B587-E4E88C6BA4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3646" y="3495540"/>
              <a:ext cx="432194" cy="187228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8706534E-3BCA-FF34-8474-5F8A745D4E4E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15" idx="3"/>
              <a:endCxn id="20" idx="1"/>
            </p:cNvCxnSpPr>
            <p:nvPr/>
          </p:nvCxnSpPr>
          <p:spPr>
            <a:xfrm flipV="1">
              <a:off x="1275840" y="3588956"/>
              <a:ext cx="1988794" cy="19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51FDD69-5668-CD6B-BDC8-940EF0B0A39B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2361350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성별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키</a:t>
              </a:r>
              <a:r>
                <a:rPr lang="en-US" altLang="ko-KR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, </a:t>
              </a:r>
              <a:r>
                <a:rPr lang="ko-KR" altLang="en-US" sz="2000" dirty="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체중 등 설정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94C6B08-2D0E-A1BF-1069-300B2AC04C24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264634" y="3388901"/>
              <a:ext cx="233815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주간 분석 데이터 제공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A0D497-F3D9-AFC2-7E04-ABB9CD74A1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6096000" y="1489045"/>
            <a:ext cx="5019413" cy="3527574"/>
            <a:chOff x="6096000" y="1489045"/>
            <a:chExt cx="5019413" cy="3527574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09CB8F11-BA9D-840C-976F-5B8FD61519BD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096000" y="1489045"/>
              <a:ext cx="2005571" cy="3527574"/>
            </a:xfrm>
            <a:prstGeom prst="rect">
              <a:avLst/>
            </a:prstGeom>
          </p:spPr>
        </p:pic>
        <p:cxnSp>
          <p:nvCxnSpPr>
            <p:cNvPr id="26" name="직선 화살표 연결선 25">
              <a:extLst>
                <a:ext uri="{FF2B5EF4-FFF2-40B4-BE49-F238E27FC236}">
                  <a16:creationId xmlns:a16="http://schemas.microsoft.com/office/drawing/2014/main" id="{78AAB426-0AED-3CAA-F327-A96457291333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27" idx="3"/>
              <a:endCxn id="28" idx="1"/>
            </p:cNvCxnSpPr>
            <p:nvPr/>
          </p:nvCxnSpPr>
          <p:spPr>
            <a:xfrm flipV="1">
              <a:off x="8011486" y="2670182"/>
              <a:ext cx="454879" cy="1124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BC95CD7-4BBF-8AB0-77B4-BCD2CCEA8F4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94980" y="1492064"/>
              <a:ext cx="1816506" cy="2358483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63D233E-D4B3-7D88-4A8B-EE17478954AE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2470127"/>
              <a:ext cx="264904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각종 기록 한 눈에 확인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  <p:cxnSp>
          <p:nvCxnSpPr>
            <p:cNvPr id="34" name="직선 화살표 연결선 33">
              <a:extLst>
                <a:ext uri="{FF2B5EF4-FFF2-40B4-BE49-F238E27FC236}">
                  <a16:creationId xmlns:a16="http://schemas.microsoft.com/office/drawing/2014/main" id="{4C471BBE-12E2-DE44-4529-398FFBBCD537}"/>
                </a:ext>
              </a:extLst>
            </p:cNvPr>
            <p:cNvCxnSpPr>
              <a:cxnSpLocks noGrp="1" noRot="1" noMove="1" noResize="1" noEditPoints="1" noAdjustHandles="1" noChangeArrowheads="1" noChangeShapeType="1"/>
              <a:stCxn id="35" idx="3"/>
              <a:endCxn id="36" idx="1"/>
            </p:cNvCxnSpPr>
            <p:nvPr/>
          </p:nvCxnSpPr>
          <p:spPr>
            <a:xfrm flipV="1">
              <a:off x="6451134" y="4159595"/>
              <a:ext cx="2015231" cy="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D8361C5B-6ADC-DED7-5C03-FBC6596F0B98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76729" y="4065973"/>
              <a:ext cx="274405" cy="187245"/>
            </a:xfrm>
            <a:prstGeom prst="rect">
              <a:avLst/>
            </a:prstGeom>
            <a:solidFill>
              <a:srgbClr val="21345C">
                <a:alpha val="0"/>
              </a:srgbClr>
            </a:solidFill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7BEBF8F-8BE3-41B7-44AF-2BEB0FF3A163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466365" y="3959540"/>
              <a:ext cx="244771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2000">
                  <a:solidFill>
                    <a:schemeClr val="bg1"/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기록에 따라 배지 획득</a:t>
              </a:r>
              <a:endParaRPr lang="ko-KR" altLang="en-US" sz="2000" dirty="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5BDC8ED-3A46-71A1-C16D-371393581B6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64943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콘텐츠 및 기능 분석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34434" y="207141"/>
            <a:ext cx="50422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유사 어플 분석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: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삼성헬스케어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2BFB476-5F02-C4C1-C367-EA6DEDA798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448340" y="1781372"/>
            <a:ext cx="504224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시사점</a:t>
            </a:r>
            <a:endParaRPr kumimoji="0" lang="en-US" altLang="ko-KR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모바일 유저는 </a:t>
            </a: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체성분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BMI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지수 직접 입력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800100" lvl="1" indent="-342900">
              <a:buFontTx/>
              <a:buChar char="-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부정확한 정보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800100" lvl="1" indent="-342900">
              <a:buFontTx/>
              <a:buChar char="-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다양한 음식 성분을 검색을 통해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indent="-342900">
              <a:buFont typeface="Wingdings" panose="05000000000000000000" pitchFamily="2" charset="2"/>
              <a:buChar char="ü"/>
              <a:defRPr/>
            </a:pP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427E87-9899-6D2C-F3C3-7A1239AC41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01214" y="1769176"/>
            <a:ext cx="467546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R="0" lvl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갤럭시워치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5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사용자는 </a:t>
            </a:r>
            <a:r>
              <a:rPr lang="ko-KR" altLang="en-US" sz="2000" dirty="0" err="1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</a:t>
            </a:r>
            <a:r>
              <a:rPr lang="en-US" altLang="ko-KR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BMI</a:t>
            </a: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지수 측정 기능 포함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투게더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,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피트니스 기능으로 다양하게 건강 관리 가능</a:t>
            </a:r>
            <a:b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</a:b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lang="ko-KR" altLang="en-US" sz="2000" dirty="0">
                <a:solidFill>
                  <a:srgbClr val="326393">
                    <a:lumMod val="20000"/>
                    <a:lumOff val="80000"/>
                  </a:srgb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매일 건강 기록 확인 가능</a:t>
            </a:r>
            <a:endParaRPr lang="en-US" altLang="ko-KR" sz="2000" dirty="0">
              <a:solidFill>
                <a:srgbClr val="326393">
                  <a:lumMod val="20000"/>
                  <a:lumOff val="80000"/>
                </a:srgb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  <a:p>
            <a:pPr marL="342900" marR="0" lvl="0" indent="-34290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ü"/>
              <a:tabLst/>
              <a:defRPr/>
            </a:pP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326393">
                    <a:lumMod val="20000"/>
                    <a:lumOff val="80000"/>
                  </a:srgbClr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불확실한 칼로리 소모량</a:t>
            </a:r>
            <a:endParaRPr kumimoji="0" lang="en-US" altLang="ko-KR" sz="2000" b="0" i="0" u="none" strike="noStrike" kern="1200" cap="none" spc="0" normalizeH="0" baseline="0" noProof="0" dirty="0">
              <a:ln>
                <a:noFill/>
              </a:ln>
              <a:solidFill>
                <a:srgbClr val="326393">
                  <a:lumMod val="20000"/>
                  <a:lumOff val="80000"/>
                </a:srgbClr>
              </a:solidFill>
              <a:effectLst/>
              <a:uLnTx/>
              <a:uFillTx/>
              <a:latin typeface="휴먼매직체" panose="02030504000101010101" pitchFamily="18" charset="-127"/>
              <a:ea typeface="휴먼매직체" panose="02030504000101010101" pitchFamily="18" charset="-127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70AB6F-DDAD-98E5-05F6-CEFF06FCB9C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318714" y="274532"/>
            <a:ext cx="482366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*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특징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 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및 시사점 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(</a:t>
            </a:r>
            <a:r>
              <a:rPr kumimoji="0" lang="ko-KR" alt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이윤호</a:t>
            </a:r>
            <a:r>
              <a:rPr kumimoji="0" lang="en-US" altLang="ko-KR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휴먼매직체" panose="02030504000101010101" pitchFamily="18" charset="-127"/>
                <a:ea typeface="휴먼매직체" panose="02030504000101010101" pitchFamily="18" charset="-127"/>
                <a:cs typeface="+mn-c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56606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7549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 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r>
              <a:rPr lang="en-US" altLang="ko-KR" sz="2800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음식 성분 확인</a:t>
            </a:r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4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</a:t>
            </a:r>
            <a:r>
              <a:rPr lang="ko-KR" altLang="en-US" sz="2000" dirty="0">
                <a:solidFill>
                  <a:schemeClr val="accent4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음식 성분을 직관적으로 확인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로 내가 먹은 양만큼 음식 성분 계산 및 기록</a:t>
            </a:r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bg2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bg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영양소를 얼마나 섭취했는지 확인 및 기록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Inbody</a:t>
            </a:r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Cloud Server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연동</a:t>
            </a:r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2000" dirty="0">
              <a:solidFill>
                <a:schemeClr val="accent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- 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서버에 저장된 </a:t>
            </a:r>
            <a:r>
              <a:rPr lang="ko-KR" altLang="en-US" sz="2000" dirty="0" err="1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</a:t>
            </a:r>
            <a:r>
              <a:rPr lang="ko-KR" altLang="en-US" sz="2000" dirty="0">
                <a:solidFill>
                  <a:schemeClr val="accent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데이터 연동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tx2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체성분에 따라 필요한 섭취량 조절</a:t>
            </a:r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29610" y="111525"/>
            <a:ext cx="159530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5400000">
            <a:off x="200615" y="1698501"/>
            <a:ext cx="5855412" cy="4313486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54766" y="1036670"/>
            <a:ext cx="1096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</a:t>
            </a:r>
            <a:r>
              <a:rPr lang="en-US" altLang="ko-KR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/</a:t>
            </a:r>
            <a:r>
              <a:rPr lang="ko-KR" altLang="en-US">
                <a:solidFill>
                  <a:schemeClr val="accent2">
                    <a:lumMod val="20000"/>
                    <a:lumOff val="8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실행</a:t>
            </a:r>
            <a:endParaRPr lang="ko-KR" altLang="en-US" dirty="0">
              <a:solidFill>
                <a:schemeClr val="accent2">
                  <a:lumMod val="20000"/>
                  <a:lumOff val="80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7AEC74DB-E28A-0258-BCAB-3ABC1BF110B7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 rot="16200000">
            <a:off x="6111221" y="1578292"/>
            <a:ext cx="5855412" cy="4521244"/>
            <a:chOff x="3141134" y="1907446"/>
            <a:chExt cx="5855412" cy="3600000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4226F056-6D56-210E-95FC-DD68DDED22C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341F86F-02E1-7467-7610-D51B04ACA7E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75ABEF6-466C-8411-6B1B-E095C931311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729493" y="3654835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디자인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589ED6-2357-1811-BBC7-3373FB82CF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444050" y="3651034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콘텐츠 환경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E9DB3A-2048-EAB6-36B7-616D8946E8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67484" y="1036670"/>
            <a:ext cx="942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DB/</a:t>
            </a:r>
            <a:r>
              <a:rPr lang="ko-KR" altLang="en-US">
                <a:solidFill>
                  <a:schemeClr val="accent2">
                    <a:lumMod val="7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서버</a:t>
            </a:r>
            <a:endParaRPr lang="ko-KR" altLang="en-US" dirty="0">
              <a:solidFill>
                <a:schemeClr val="accent2">
                  <a:lumMod val="7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519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660</TotalTime>
  <Words>2132</Words>
  <Application>Microsoft Office PowerPoint</Application>
  <PresentationFormat>와이드스크린</PresentationFormat>
  <Paragraphs>341</Paragraphs>
  <Slides>38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38</vt:i4>
      </vt:variant>
    </vt:vector>
  </HeadingPairs>
  <TitlesOfParts>
    <vt:vector size="44" baseType="lpstr">
      <vt:lpstr>���� ���</vt:lpstr>
      <vt:lpstr>마루 부리 Beta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이윤호</cp:lastModifiedBy>
  <cp:revision>31</cp:revision>
  <dcterms:created xsi:type="dcterms:W3CDTF">2020-11-18T01:48:02Z</dcterms:created>
  <dcterms:modified xsi:type="dcterms:W3CDTF">2022-11-21T05:27:17Z</dcterms:modified>
</cp:coreProperties>
</file>